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806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0360152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6400">
                <a:solidFill>
                  <a:srgbClr val="FFFFFF"/>
                </a:solidFill>
                <a:latin typeface="Arial"/>
              </a:defRPr>
            </a:pPr>
            <a:r>
              <a:t>TALKIES</a:t>
            </a:r>
          </a:p>
          <a:p>
            <a:pPr algn="ctr">
              <a:spcBef>
                <a:spcPts val="2000"/>
              </a:spcBef>
              <a:defRPr sz="2400">
                <a:solidFill>
                  <a:srgbClr val="F0F2F5"/>
                </a:solidFill>
                <a:latin typeface="Arial"/>
              </a:defRPr>
            </a:pPr>
            <a:r>
              <a:t>A Full-Stack Real-Time Messaging &amp; Calling Platform</a:t>
            </a:r>
          </a:p>
          <a:p>
            <a:pPr algn="ctr">
              <a:spcBef>
                <a:spcPts val="4000"/>
              </a:spcBef>
              <a:defRPr sz="2000">
                <a:solidFill>
                  <a:srgbClr val="FFFFFF"/>
                </a:solidFill>
                <a:latin typeface="Arial"/>
              </a:defRPr>
            </a:pPr>
            <a:r>
              <a:t>Project Defense Presentation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2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08069"/>
          </a:solidFill>
          <a:ln>
            <a:solidFill>
              <a:srgbClr val="0080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274320"/>
          <a:lstStyle/>
          <a:p>
            <a:pPr algn="l">
              <a:defRPr b="1" sz="2800">
                <a:solidFill>
                  <a:srgbClr val="FFFFFF"/>
                </a:solidFill>
                <a:latin typeface="Arial"/>
              </a:defRPr>
            </a:pPr>
            <a:r>
              <a:t>Project Motivation &amp; Objective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463040"/>
            <a:ext cx="11274552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>
                <a:solidFill>
                  <a:srgbClr val="282828"/>
                </a:solidFill>
                <a:latin typeface="Arial"/>
              </a:defRPr>
            </a:pPr>
            <a:r>
              <a:t>Limitations of Commercial Solutions:</a:t>
            </a:r>
          </a:p>
          <a:p>
            <a:pPr lvl="1">
              <a:spcAft>
                <a:spcPts val="800"/>
              </a:spcAft>
              <a:defRPr sz="1600">
                <a:solidFill>
                  <a:srgbClr val="282828"/>
                </a:solidFill>
                <a:latin typeface="Arial"/>
              </a:defRPr>
            </a:pPr>
            <a:r>
              <a:t>Centralized data ownership (privacy concerns on WhatsApp/Telegram metadata).</a:t>
            </a:r>
          </a:p>
          <a:p>
            <a:pPr lvl="1">
              <a:spcAft>
                <a:spcPts val="800"/>
              </a:spcAft>
              <a:defRPr sz="1600">
                <a:solidFill>
                  <a:srgbClr val="282828"/>
                </a:solidFill>
                <a:latin typeface="Arial"/>
              </a:defRPr>
            </a:pPr>
            <a:r>
              <a:t>Severe bloat in consumer chat networks (ads, markets, noise).</a:t>
            </a:r>
          </a:p>
          <a:p>
            <a:pPr lvl="1">
              <a:spcAft>
                <a:spcPts val="800"/>
              </a:spcAft>
              <a:defRPr sz="1600">
                <a:solidFill>
                  <a:srgbClr val="282828"/>
                </a:solidFill>
                <a:latin typeface="Arial"/>
              </a:defRPr>
            </a:pPr>
            <a:r>
              <a:t>No option for enterprise private self-hosting.</a:t>
            </a:r>
          </a:p>
          <a:p>
            <a:pPr>
              <a:spcAft>
                <a:spcPts val="1400"/>
              </a:spcAft>
              <a:defRPr sz="1800">
                <a:solidFill>
                  <a:srgbClr val="282828"/>
                </a:solidFill>
                <a:latin typeface="Arial"/>
              </a:defRPr>
            </a:pPr>
            <a:r>
              <a:t>Core Project Objectives:</a:t>
            </a:r>
          </a:p>
          <a:p>
            <a:pPr lvl="1">
              <a:spcAft>
                <a:spcPts val="800"/>
              </a:spcAft>
              <a:defRPr sz="1600">
                <a:solidFill>
                  <a:srgbClr val="282828"/>
                </a:solidFill>
                <a:latin typeface="Arial"/>
              </a:defRPr>
            </a:pPr>
            <a:r>
              <a:t>Build a fully self-hosted, secure, and developer-owned chat network.</a:t>
            </a:r>
          </a:p>
          <a:p>
            <a:pPr lvl="1">
              <a:spcAft>
                <a:spcPts val="800"/>
              </a:spcAft>
              <a:defRPr sz="1600">
                <a:solidFill>
                  <a:srgbClr val="282828"/>
                </a:solidFill>
                <a:latin typeface="Arial"/>
              </a:defRPr>
            </a:pPr>
            <a:r>
              <a:t>Implement real-time full-duplex messaging and peer-to-peer WebRTC calling.</a:t>
            </a:r>
          </a:p>
          <a:p>
            <a:pPr lvl="1">
              <a:spcAft>
                <a:spcPts val="800"/>
              </a:spcAft>
              <a:defRPr sz="1600">
                <a:solidFill>
                  <a:srgbClr val="282828"/>
                </a:solidFill>
                <a:latin typeface="Arial"/>
              </a:defRPr>
            </a:pPr>
            <a:r>
              <a:t>Create a modern, animated, and highly responsive user interface.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2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08069"/>
          </a:solidFill>
          <a:ln>
            <a:solidFill>
              <a:srgbClr val="0080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274320"/>
          <a:lstStyle/>
          <a:p>
            <a:pPr algn="l">
              <a:defRPr b="1" sz="2800">
                <a:solidFill>
                  <a:srgbClr val="FFFFFF"/>
                </a:solidFill>
                <a:latin typeface="Arial"/>
              </a:defRPr>
            </a:pPr>
            <a:r>
              <a:t>Technical Stack &amp;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463040"/>
            <a:ext cx="11274552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>
                <a:solidFill>
                  <a:srgbClr val="282828"/>
                </a:solidFill>
                <a:latin typeface="Arial"/>
              </a:defRPr>
            </a:pPr>
            <a:r>
              <a:t>Frontend Engineering:</a:t>
            </a:r>
          </a:p>
          <a:p>
            <a:pPr lvl="1">
              <a:spcAft>
                <a:spcPts val="800"/>
              </a:spcAft>
              <a:defRPr sz="1600">
                <a:solidFill>
                  <a:srgbClr val="282828"/>
                </a:solidFill>
                <a:latin typeface="Arial"/>
              </a:defRPr>
            </a:pPr>
            <a:r>
              <a:t>React.js &amp; TailwindCSS for responsive, modern layout design.</a:t>
            </a:r>
          </a:p>
          <a:p>
            <a:pPr lvl="1">
              <a:spcAft>
                <a:spcPts val="800"/>
              </a:spcAft>
              <a:defRPr sz="1600">
                <a:solidFill>
                  <a:srgbClr val="282828"/>
                </a:solidFill>
                <a:latin typeface="Arial"/>
              </a:defRPr>
            </a:pPr>
            <a:r>
              <a:t>Zustand for lightweight, decoupled client-side state management.</a:t>
            </a:r>
          </a:p>
          <a:p>
            <a:pPr lvl="1">
              <a:spcAft>
                <a:spcPts val="800"/>
              </a:spcAft>
              <a:defRPr sz="1600">
                <a:solidFill>
                  <a:srgbClr val="282828"/>
                </a:solidFill>
                <a:latin typeface="Arial"/>
              </a:defRPr>
            </a:pPr>
            <a:r>
              <a:t>Framer Motion for premium user interface transitions.</a:t>
            </a:r>
          </a:p>
          <a:p>
            <a:pPr>
              <a:spcAft>
                <a:spcPts val="1400"/>
              </a:spcAft>
              <a:defRPr sz="1800">
                <a:solidFill>
                  <a:srgbClr val="282828"/>
                </a:solidFill>
                <a:latin typeface="Arial"/>
              </a:defRPr>
            </a:pPr>
            <a:r>
              <a:t>Backend &amp; Real-Time signaling:</a:t>
            </a:r>
          </a:p>
          <a:p>
            <a:pPr lvl="1">
              <a:spcAft>
                <a:spcPts val="800"/>
              </a:spcAft>
              <a:defRPr sz="1600">
                <a:solidFill>
                  <a:srgbClr val="282828"/>
                </a:solidFill>
                <a:latin typeface="Arial"/>
              </a:defRPr>
            </a:pPr>
            <a:r>
              <a:t>Node.js &amp; Express.js for REST API routes and business logic.</a:t>
            </a:r>
          </a:p>
          <a:p>
            <a:pPr lvl="1">
              <a:spcAft>
                <a:spcPts val="800"/>
              </a:spcAft>
              <a:defRPr sz="1600">
                <a:solidFill>
                  <a:srgbClr val="282828"/>
                </a:solidFill>
                <a:latin typeface="Arial"/>
              </a:defRPr>
            </a:pPr>
            <a:r>
              <a:t>Socket.io for WebSocket bidirectional messaging and state signals.</a:t>
            </a:r>
          </a:p>
          <a:p>
            <a:pPr lvl="1">
              <a:spcAft>
                <a:spcPts val="800"/>
              </a:spcAft>
              <a:defRPr sz="1600">
                <a:solidFill>
                  <a:srgbClr val="282828"/>
                </a:solidFill>
                <a:latin typeface="Arial"/>
              </a:defRPr>
            </a:pPr>
            <a:r>
              <a:t>WebRTC for browser-to-browser direct media streaming.</a:t>
            </a:r>
          </a:p>
          <a:p>
            <a:pPr>
              <a:spcAft>
                <a:spcPts val="1400"/>
              </a:spcAft>
              <a:defRPr sz="1800">
                <a:solidFill>
                  <a:srgbClr val="282828"/>
                </a:solidFill>
                <a:latin typeface="Arial"/>
              </a:defRPr>
            </a:pPr>
            <a:r>
              <a:t>Database &amp; Media Storage:</a:t>
            </a:r>
          </a:p>
          <a:p>
            <a:pPr lvl="1">
              <a:spcAft>
                <a:spcPts val="800"/>
              </a:spcAft>
              <a:defRPr sz="1600">
                <a:solidFill>
                  <a:srgbClr val="282828"/>
                </a:solidFill>
                <a:latin typeface="Arial"/>
              </a:defRPr>
            </a:pPr>
            <a:r>
              <a:t>MongoDB for structured collections (Users, Messages, Conversations, Requests).</a:t>
            </a:r>
          </a:p>
          <a:p>
            <a:pPr lvl="1">
              <a:spcAft>
                <a:spcPts val="800"/>
              </a:spcAft>
              <a:defRPr sz="1600">
                <a:solidFill>
                  <a:srgbClr val="282828"/>
                </a:solidFill>
                <a:latin typeface="Arial"/>
              </a:defRPr>
            </a:pPr>
            <a:r>
              <a:t>Cloudinary for scalable cloud-based media assets hosting.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2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08069"/>
          </a:solidFill>
          <a:ln>
            <a:solidFill>
              <a:srgbClr val="0080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274320"/>
          <a:lstStyle/>
          <a:p>
            <a:pPr algn="l">
              <a:defRPr b="1" sz="2800">
                <a:solidFill>
                  <a:srgbClr val="FFFFFF"/>
                </a:solidFill>
                <a:latin typeface="Arial"/>
              </a:defRPr>
            </a:pPr>
            <a:r>
              <a:t>Authentication &amp; Onboarding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463040"/>
            <a:ext cx="11274552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>
                <a:solidFill>
                  <a:srgbClr val="282828"/>
                </a:solidFill>
                <a:latin typeface="Arial"/>
              </a:defRPr>
            </a:pPr>
            <a:r>
              <a:t>Secure Sign-in &amp; Authentication Flow:</a:t>
            </a:r>
          </a:p>
          <a:p>
            <a:pPr lvl="1">
              <a:spcAft>
                <a:spcPts val="800"/>
              </a:spcAft>
              <a:defRPr sz="1600">
                <a:solidFill>
                  <a:srgbClr val="282828"/>
                </a:solidFill>
                <a:latin typeface="Arial"/>
              </a:defRPr>
            </a:pPr>
            <a:r>
              <a:t>User verification utilizing suffix checks and email authentication.</a:t>
            </a:r>
          </a:p>
          <a:p>
            <a:pPr lvl="1">
              <a:spcAft>
                <a:spcPts val="800"/>
              </a:spcAft>
              <a:defRPr sz="1600">
                <a:solidFill>
                  <a:srgbClr val="282828"/>
                </a:solidFill>
                <a:latin typeface="Arial"/>
              </a:defRPr>
            </a:pPr>
            <a:r>
              <a:t>Stateless user authentication utilizing JSON Web Tokens (JWT).</a:t>
            </a:r>
          </a:p>
          <a:p>
            <a:pPr lvl="1">
              <a:spcAft>
                <a:spcPts val="800"/>
              </a:spcAft>
              <a:defRPr sz="1600">
                <a:solidFill>
                  <a:srgbClr val="282828"/>
                </a:solidFill>
                <a:latin typeface="Arial"/>
              </a:defRPr>
            </a:pPr>
            <a:r>
              <a:t>JWT tokens secured inside HttpOnly cookies to shield from XSS attacks.</a:t>
            </a:r>
          </a:p>
          <a:p>
            <a:pPr>
              <a:spcAft>
                <a:spcPts val="1400"/>
              </a:spcAft>
              <a:defRPr sz="1800">
                <a:solidFill>
                  <a:srgbClr val="282828"/>
                </a:solidFill>
                <a:latin typeface="Arial"/>
              </a:defRPr>
            </a:pPr>
            <a:r>
              <a:t>Profile Customization Onboarding:</a:t>
            </a:r>
          </a:p>
          <a:p>
            <a:pPr lvl="1">
              <a:spcAft>
                <a:spcPts val="800"/>
              </a:spcAft>
              <a:defRPr sz="1600">
                <a:solidFill>
                  <a:srgbClr val="282828"/>
                </a:solidFill>
                <a:latin typeface="Arial"/>
              </a:defRPr>
            </a:pPr>
            <a:r>
              <a:t>Interactive profile setup: Username validation, avatar upload, and user bio.</a:t>
            </a:r>
          </a:p>
          <a:p>
            <a:pPr lvl="1">
              <a:spcAft>
                <a:spcPts val="800"/>
              </a:spcAft>
              <a:defRPr sz="1600">
                <a:solidFill>
                  <a:srgbClr val="282828"/>
                </a:solidFill>
                <a:latin typeface="Arial"/>
              </a:defRPr>
            </a:pPr>
            <a:r>
              <a:t>Persistent profile storage in MongoDB with real-time socket updates for active contacts.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2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08069"/>
          </a:solidFill>
          <a:ln>
            <a:solidFill>
              <a:srgbClr val="0080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274320"/>
          <a:lstStyle/>
          <a:p>
            <a:pPr algn="l">
              <a:defRPr b="1" sz="2800">
                <a:solidFill>
                  <a:srgbClr val="FFFFFF"/>
                </a:solidFill>
                <a:latin typeface="Arial"/>
              </a:defRPr>
            </a:pPr>
            <a:r>
              <a:t>Real-Time Messaging &amp; Voice 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463040"/>
            <a:ext cx="11274552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>
                <a:solidFill>
                  <a:srgbClr val="282828"/>
                </a:solidFill>
                <a:latin typeface="Arial"/>
              </a:defRPr>
            </a:pPr>
            <a:r>
              <a:t>Asynchronous Messaging Pipe:</a:t>
            </a:r>
          </a:p>
          <a:p>
            <a:pPr lvl="1">
              <a:spcAft>
                <a:spcPts val="800"/>
              </a:spcAft>
              <a:defRPr sz="1600">
                <a:solidFill>
                  <a:srgbClr val="282828"/>
                </a:solidFill>
                <a:latin typeface="Arial"/>
              </a:defRPr>
            </a:pPr>
            <a:r>
              <a:t>Full WebSocket communication layer powered by Socket.io.</a:t>
            </a:r>
          </a:p>
          <a:p>
            <a:pPr lvl="1">
              <a:spcAft>
                <a:spcPts val="800"/>
              </a:spcAft>
              <a:defRPr sz="1600">
                <a:solidFill>
                  <a:srgbClr val="282828"/>
                </a:solidFill>
                <a:latin typeface="Arial"/>
              </a:defRPr>
            </a:pPr>
            <a:r>
              <a:t>Optimistic UI updates: client appends sent messages immediately, eliminating latency lag.</a:t>
            </a:r>
          </a:p>
          <a:p>
            <a:pPr>
              <a:spcAft>
                <a:spcPts val="1400"/>
              </a:spcAft>
              <a:defRPr sz="1800">
                <a:solidFill>
                  <a:srgbClr val="282828"/>
                </a:solidFill>
                <a:latin typeface="Arial"/>
              </a:defRPr>
            </a:pPr>
            <a:r>
              <a:t>Integrated Voice Notes (Voice Messaging):</a:t>
            </a:r>
          </a:p>
          <a:p>
            <a:pPr lvl="1">
              <a:spcAft>
                <a:spcPts val="800"/>
              </a:spcAft>
              <a:defRPr sz="1600">
                <a:solidFill>
                  <a:srgbClr val="282828"/>
                </a:solidFill>
                <a:latin typeface="Arial"/>
              </a:defRPr>
            </a:pPr>
            <a:r>
              <a:t>Capture audio dynamically from the user's microphone using MediaRecorder API.</a:t>
            </a:r>
          </a:p>
          <a:p>
            <a:pPr lvl="1">
              <a:spcAft>
                <a:spcPts val="800"/>
              </a:spcAft>
              <a:defRPr sz="1600">
                <a:solidFill>
                  <a:srgbClr val="282828"/>
                </a:solidFill>
                <a:latin typeface="Arial"/>
              </a:defRPr>
            </a:pPr>
            <a:r>
              <a:t>Upload captured audio as a WebM file to Cloudinary cloud storage.</a:t>
            </a:r>
          </a:p>
          <a:p>
            <a:pPr lvl="1">
              <a:spcAft>
                <a:spcPts val="800"/>
              </a:spcAft>
              <a:defRPr sz="1600">
                <a:solidFill>
                  <a:srgbClr val="282828"/>
                </a:solidFill>
                <a:latin typeface="Arial"/>
              </a:defRPr>
            </a:pPr>
            <a:r>
              <a:t>Native browser audio rendering inside custom-styled message bubble players.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2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08069"/>
          </a:solidFill>
          <a:ln>
            <a:solidFill>
              <a:srgbClr val="0080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274320"/>
          <a:lstStyle/>
          <a:p>
            <a:pPr algn="l">
              <a:defRPr b="1" sz="2800">
                <a:solidFill>
                  <a:srgbClr val="FFFFFF"/>
                </a:solidFill>
                <a:latin typeface="Arial"/>
              </a:defRPr>
            </a:pPr>
            <a:r>
              <a:t>Peer-to-Peer Video &amp; Voice Calling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463040"/>
            <a:ext cx="11274552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>
                <a:solidFill>
                  <a:srgbClr val="282828"/>
                </a:solidFill>
                <a:latin typeface="Arial"/>
              </a:defRPr>
            </a:pPr>
            <a:r>
              <a:t>High-Performance WebRTC Media Streaming:</a:t>
            </a:r>
          </a:p>
          <a:p>
            <a:pPr lvl="1">
              <a:spcAft>
                <a:spcPts val="800"/>
              </a:spcAft>
              <a:defRPr sz="1600">
                <a:solidFill>
                  <a:srgbClr val="282828"/>
                </a:solidFill>
                <a:latin typeface="Arial"/>
              </a:defRPr>
            </a:pPr>
            <a:r>
              <a:t>Bypasses server bandwidth: video and audio stream directly between browsers.</a:t>
            </a:r>
          </a:p>
          <a:p>
            <a:pPr lvl="1">
              <a:spcAft>
                <a:spcPts val="800"/>
              </a:spcAft>
              <a:defRPr sz="1600">
                <a:solidFill>
                  <a:srgbClr val="282828"/>
                </a:solidFill>
                <a:latin typeface="Arial"/>
              </a:defRPr>
            </a:pPr>
            <a:r>
              <a:t>Server acts only as a WebSocket signaling controller to exchange connection tokens.</a:t>
            </a:r>
          </a:p>
          <a:p>
            <a:pPr>
              <a:spcAft>
                <a:spcPts val="1400"/>
              </a:spcAft>
              <a:defRPr sz="1800">
                <a:solidFill>
                  <a:srgbClr val="282828"/>
                </a:solidFill>
                <a:latin typeface="Arial"/>
              </a:defRPr>
            </a:pPr>
            <a:r>
              <a:t>Interactive UI Integration:</a:t>
            </a:r>
          </a:p>
          <a:p>
            <a:pPr lvl="1">
              <a:spcAft>
                <a:spcPts val="800"/>
              </a:spcAft>
              <a:defRPr sz="1600">
                <a:solidFill>
                  <a:srgbClr val="282828"/>
                </a:solidFill>
                <a:latin typeface="Arial"/>
              </a:defRPr>
            </a:pPr>
            <a:r>
              <a:t>In-app call manager handles call status: Initiating, Ringing, Connected, and Disconnected.</a:t>
            </a:r>
          </a:p>
          <a:p>
            <a:pPr lvl="1">
              <a:spcAft>
                <a:spcPts val="800"/>
              </a:spcAft>
              <a:defRPr sz="1600">
                <a:solidFill>
                  <a:srgbClr val="282828"/>
                </a:solidFill>
                <a:latin typeface="Arial"/>
              </a:defRPr>
            </a:pPr>
            <a:r>
              <a:t>Dynamic hardware controls: client-side toggle for camera, microphone mute, and hang-up.</a:t>
            </a:r>
          </a:p>
          <a:p>
            <a:pPr lvl="1">
              <a:spcAft>
                <a:spcPts val="800"/>
              </a:spcAft>
              <a:defRPr sz="1600">
                <a:solidFill>
                  <a:srgbClr val="282828"/>
                </a:solidFill>
                <a:latin typeface="Arial"/>
              </a:defRPr>
            </a:pPr>
            <a:r>
              <a:t>Global overlay alert to receive or reject calls from any screen.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2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08069"/>
          </a:solidFill>
          <a:ln>
            <a:solidFill>
              <a:srgbClr val="0080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274320"/>
          <a:lstStyle/>
          <a:p>
            <a:pPr algn="l">
              <a:defRPr b="1" sz="2800">
                <a:solidFill>
                  <a:srgbClr val="FFFFFF"/>
                </a:solidFill>
                <a:latin typeface="Arial"/>
              </a:defRPr>
            </a:pPr>
            <a:r>
              <a:t>Real-Time Indicators &amp; Sync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463040"/>
            <a:ext cx="11274552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>
                <a:solidFill>
                  <a:srgbClr val="282828"/>
                </a:solidFill>
                <a:latin typeface="Arial"/>
              </a:defRPr>
            </a:pPr>
            <a:r>
              <a:t>Message Status Ticks:</a:t>
            </a:r>
          </a:p>
          <a:p>
            <a:pPr lvl="1">
              <a:spcAft>
                <a:spcPts val="800"/>
              </a:spcAft>
              <a:defRPr sz="1600">
                <a:solidFill>
                  <a:srgbClr val="282828"/>
                </a:solidFill>
                <a:latin typeface="Arial"/>
              </a:defRPr>
            </a:pPr>
            <a:r>
              <a:t>Single gray tick (Sent to server), double gray tick (Delivered to contact).</a:t>
            </a:r>
          </a:p>
          <a:p>
            <a:pPr lvl="1">
              <a:spcAft>
                <a:spcPts val="800"/>
              </a:spcAft>
              <a:defRPr sz="1600">
                <a:solidFill>
                  <a:srgbClr val="282828"/>
                </a:solidFill>
                <a:latin typeface="Arial"/>
              </a:defRPr>
            </a:pPr>
            <a:r>
              <a:t>Double blue tick (Read by recipient).</a:t>
            </a:r>
          </a:p>
          <a:p>
            <a:pPr lvl="1">
              <a:spcAft>
                <a:spcPts val="800"/>
              </a:spcAft>
              <a:defRPr sz="1600">
                <a:solidFill>
                  <a:srgbClr val="282828"/>
                </a:solidFill>
                <a:latin typeface="Arial"/>
              </a:defRPr>
            </a:pPr>
            <a:r>
              <a:t>Bulk read receipt updates in database and sockets to reduce network chatter.</a:t>
            </a:r>
          </a:p>
          <a:p>
            <a:pPr>
              <a:spcAft>
                <a:spcPts val="1400"/>
              </a:spcAft>
              <a:defRPr sz="1800">
                <a:solidFill>
                  <a:srgbClr val="282828"/>
                </a:solidFill>
                <a:latin typeface="Arial"/>
              </a:defRPr>
            </a:pPr>
            <a:r>
              <a:t>Typing Indicators:</a:t>
            </a:r>
          </a:p>
          <a:p>
            <a:pPr lvl="1">
              <a:spcAft>
                <a:spcPts val="800"/>
              </a:spcAft>
              <a:defRPr sz="1600">
                <a:solidFill>
                  <a:srgbClr val="282828"/>
                </a:solidFill>
                <a:latin typeface="Arial"/>
              </a:defRPr>
            </a:pPr>
            <a:r>
              <a:t>Typing status triggers socket events to display 'Typing...' under chat contact name.</a:t>
            </a:r>
          </a:p>
          <a:p>
            <a:pPr lvl="1">
              <a:spcAft>
                <a:spcPts val="800"/>
              </a:spcAft>
              <a:defRPr sz="1600">
                <a:solidFill>
                  <a:srgbClr val="282828"/>
                </a:solidFill>
                <a:latin typeface="Arial"/>
              </a:defRPr>
            </a:pPr>
            <a:r>
              <a:t>Deterministic Room IDs (using User IDs) handle typing status for new conversations before database creation.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2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08069"/>
          </a:solidFill>
          <a:ln>
            <a:solidFill>
              <a:srgbClr val="0080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274320"/>
          <a:lstStyle/>
          <a:p>
            <a:pPr algn="l">
              <a:defRPr b="1" sz="2800">
                <a:solidFill>
                  <a:srgbClr val="FFFFFF"/>
                </a:solidFill>
                <a:latin typeface="Arial"/>
              </a:defRPr>
            </a:pPr>
            <a:r>
              <a:t>Social Features &amp; Friend Requests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463040"/>
            <a:ext cx="11274552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>
                <a:solidFill>
                  <a:srgbClr val="282828"/>
                </a:solidFill>
                <a:latin typeface="Arial"/>
              </a:defRPr>
            </a:pPr>
            <a:r>
              <a:t>Friend Onboarding Management:</a:t>
            </a:r>
          </a:p>
          <a:p>
            <a:pPr lvl="1">
              <a:spcAft>
                <a:spcPts val="800"/>
              </a:spcAft>
              <a:defRPr sz="1600">
                <a:solidFill>
                  <a:srgbClr val="282828"/>
                </a:solidFill>
                <a:latin typeface="Arial"/>
              </a:defRPr>
            </a:pPr>
            <a:r>
              <a:t>Split tab panel layout: Search stranger list / View pending friend requests.</a:t>
            </a:r>
          </a:p>
          <a:p>
            <a:pPr lvl="1">
              <a:spcAft>
                <a:spcPts val="800"/>
              </a:spcAft>
              <a:defRPr sz="1600">
                <a:solidFill>
                  <a:srgbClr val="282828"/>
                </a:solidFill>
                <a:latin typeface="Arial"/>
              </a:defRPr>
            </a:pPr>
            <a:r>
              <a:t>Restricts random contacts: users can only chat if they are verified friends or active contacts.</a:t>
            </a:r>
          </a:p>
          <a:p>
            <a:pPr>
              <a:spcAft>
                <a:spcPts val="1400"/>
              </a:spcAft>
              <a:defRPr sz="1800">
                <a:solidFill>
                  <a:srgbClr val="282828"/>
                </a:solidFill>
                <a:latin typeface="Arial"/>
              </a:defRPr>
            </a:pPr>
            <a:r>
              <a:t>Automated Safety Mechanisms:</a:t>
            </a:r>
          </a:p>
          <a:p>
            <a:pPr lvl="1">
              <a:spcAft>
                <a:spcPts val="800"/>
              </a:spcAft>
              <a:defRPr sz="1600">
                <a:solidFill>
                  <a:srgbClr val="282828"/>
                </a:solidFill>
                <a:latin typeface="Arial"/>
              </a:defRPr>
            </a:pPr>
            <a:r>
              <a:t>Mutual friendship checks and automatic auto-repair loops to ensure database sync.</a:t>
            </a:r>
          </a:p>
          <a:p>
            <a:pPr lvl="1">
              <a:spcAft>
                <a:spcPts val="800"/>
              </a:spcAft>
              <a:defRPr sz="1600">
                <a:solidFill>
                  <a:srgbClr val="282828"/>
                </a:solidFill>
                <a:latin typeface="Arial"/>
              </a:defRPr>
            </a:pPr>
            <a:r>
              <a:t>Prevent self-selection, and block illegal DB states.</a:t>
            </a:r>
          </a:p>
          <a:p>
            <a:pPr lvl="1">
              <a:spcAft>
                <a:spcPts val="800"/>
              </a:spcAft>
              <a:defRPr sz="1600">
                <a:solidFill>
                  <a:srgbClr val="282828"/>
                </a:solidFill>
                <a:latin typeface="Arial"/>
              </a:defRPr>
            </a:pPr>
            <a:r>
              <a:t>Socket triggers alert immediately when a request is sent, accepted, or rejected.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2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08069"/>
          </a:solidFill>
          <a:ln>
            <a:solidFill>
              <a:srgbClr val="0080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274320"/>
          <a:lstStyle/>
          <a:p>
            <a:pPr algn="l">
              <a:defRPr b="1" sz="2800">
                <a:solidFill>
                  <a:srgbClr val="FFFFFF"/>
                </a:solidFill>
                <a:latin typeface="Arial"/>
              </a:defRPr>
            </a:pPr>
            <a:r>
              <a:t>Customization &amp; Support Channels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463040"/>
            <a:ext cx="11274552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>
                <a:solidFill>
                  <a:srgbClr val="282828"/>
                </a:solidFill>
                <a:latin typeface="Arial"/>
              </a:defRPr>
            </a:pPr>
            <a:r>
              <a:t>Personalized Theme Engine:</a:t>
            </a:r>
          </a:p>
          <a:p>
            <a:pPr lvl="1">
              <a:spcAft>
                <a:spcPts val="800"/>
              </a:spcAft>
              <a:defRPr sz="1600">
                <a:solidFill>
                  <a:srgbClr val="282828"/>
                </a:solidFill>
                <a:latin typeface="Arial"/>
              </a:defRPr>
            </a:pPr>
            <a:r>
              <a:t>Toggle between a sleek, battery-saving Dark Mode and clean Light Mode.</a:t>
            </a:r>
          </a:p>
          <a:p>
            <a:pPr lvl="1">
              <a:spcAft>
                <a:spcPts val="800"/>
              </a:spcAft>
              <a:defRPr sz="1600">
                <a:solidFill>
                  <a:srgbClr val="282828"/>
                </a:solidFill>
                <a:latin typeface="Arial"/>
              </a:defRPr>
            </a:pPr>
            <a:r>
              <a:t>Theme configuration is persisted locally using local storage for consistent session state.</a:t>
            </a:r>
          </a:p>
          <a:p>
            <a:pPr>
              <a:spcAft>
                <a:spcPts val="1400"/>
              </a:spcAft>
              <a:defRPr sz="1800">
                <a:solidFill>
                  <a:srgbClr val="282828"/>
                </a:solidFill>
                <a:latin typeface="Arial"/>
              </a:defRPr>
            </a:pPr>
            <a:r>
              <a:t>Interactive Chat Wallpapers:</a:t>
            </a:r>
          </a:p>
          <a:p>
            <a:pPr lvl="1">
              <a:spcAft>
                <a:spcPts val="800"/>
              </a:spcAft>
              <a:defRPr sz="1600">
                <a:solidFill>
                  <a:srgbClr val="282828"/>
                </a:solidFill>
                <a:latin typeface="Arial"/>
              </a:defRPr>
            </a:pPr>
            <a:r>
              <a:t>Customize background for each conversation using solid color themes or personal images.</a:t>
            </a:r>
          </a:p>
          <a:p>
            <a:pPr>
              <a:spcAft>
                <a:spcPts val="1400"/>
              </a:spcAft>
              <a:defRPr sz="1800">
                <a:solidFill>
                  <a:srgbClr val="282828"/>
                </a:solidFill>
                <a:latin typeface="Arial"/>
              </a:defRPr>
            </a:pPr>
            <a:r>
              <a:t>Direct Support Channel:</a:t>
            </a:r>
          </a:p>
          <a:p>
            <a:pPr lvl="1">
              <a:spcAft>
                <a:spcPts val="800"/>
              </a:spcAft>
              <a:defRPr sz="1600">
                <a:solidFill>
                  <a:srgbClr val="282828"/>
                </a:solidFill>
                <a:latin typeface="Arial"/>
              </a:defRPr>
            </a:pPr>
            <a:r>
              <a:t>Integrated Help settings card containing a 'Chat with us' support router.</a:t>
            </a:r>
          </a:p>
          <a:p>
            <a:pPr lvl="1">
              <a:spcAft>
                <a:spcPts val="800"/>
              </a:spcAft>
              <a:defRPr sz="1600">
                <a:solidFill>
                  <a:srgbClr val="282828"/>
                </a:solidFill>
                <a:latin typeface="Arial"/>
              </a:defRPr>
            </a:pPr>
            <a:r>
              <a:t>Supports customer queries with a verified green checkmark badge, bypassing friend requests.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2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08069"/>
          </a:solidFill>
          <a:ln>
            <a:solidFill>
              <a:srgbClr val="0080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274320"/>
          <a:lstStyle/>
          <a:p>
            <a:pPr algn="l">
              <a:defRPr b="1" sz="2800">
                <a:solidFill>
                  <a:srgbClr val="FFFFFF"/>
                </a:solidFill>
                <a:latin typeface="Arial"/>
              </a:defRPr>
            </a:pPr>
            <a:r>
              <a:t>Status Stories &amp; 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463040"/>
            <a:ext cx="11274552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>
                <a:solidFill>
                  <a:srgbClr val="282828"/>
                </a:solidFill>
                <a:latin typeface="Arial"/>
              </a:defRPr>
            </a:pPr>
            <a:r>
              <a:t>Ephemeral Story Sharing (WhatsApp Style):</a:t>
            </a:r>
          </a:p>
          <a:p>
            <a:pPr lvl="1">
              <a:spcAft>
                <a:spcPts val="800"/>
              </a:spcAft>
              <a:defRPr sz="1600">
                <a:solidFill>
                  <a:srgbClr val="282828"/>
                </a:solidFill>
                <a:latin typeface="Arial"/>
              </a:defRPr>
            </a:pPr>
            <a:r>
              <a:t>Upload image/video updates visible to friends for exactly 24 hours.</a:t>
            </a:r>
          </a:p>
          <a:p>
            <a:pPr lvl="1">
              <a:spcAft>
                <a:spcPts val="800"/>
              </a:spcAft>
              <a:defRPr sz="1600">
                <a:solidFill>
                  <a:srgbClr val="282828"/>
                </a:solidFill>
                <a:latin typeface="Arial"/>
              </a:defRPr>
            </a:pPr>
            <a:r>
              <a:t>Dynamic story slider with automatic progress bar transitions.</a:t>
            </a:r>
          </a:p>
          <a:p>
            <a:pPr>
              <a:spcAft>
                <a:spcPts val="1400"/>
              </a:spcAft>
              <a:defRPr sz="1800">
                <a:solidFill>
                  <a:srgbClr val="282828"/>
                </a:solidFill>
                <a:latin typeface="Arial"/>
              </a:defRPr>
            </a:pPr>
            <a:r>
              <a:t>Conclusion and Achievements:</a:t>
            </a:r>
          </a:p>
          <a:p>
            <a:pPr lvl="1">
              <a:spcAft>
                <a:spcPts val="800"/>
              </a:spcAft>
              <a:defRPr sz="1600">
                <a:solidFill>
                  <a:srgbClr val="282828"/>
                </a:solidFill>
                <a:latin typeface="Arial"/>
              </a:defRPr>
            </a:pPr>
            <a:r>
              <a:t>Delivered a complete, secure, and production-grade MERN messaging system.</a:t>
            </a:r>
          </a:p>
          <a:p>
            <a:pPr lvl="1">
              <a:spcAft>
                <a:spcPts val="800"/>
              </a:spcAft>
              <a:defRPr sz="1600">
                <a:solidFill>
                  <a:srgbClr val="282828"/>
                </a:solidFill>
                <a:latin typeface="Arial"/>
              </a:defRPr>
            </a:pPr>
            <a:r>
              <a:t>Mastered real-time WebSocket state management, WebRTC signaling, and cookie auth.</a:t>
            </a:r>
          </a:p>
          <a:p>
            <a:pPr>
              <a:spcAft>
                <a:spcPts val="1400"/>
              </a:spcAft>
              <a:defRPr sz="1800">
                <a:solidFill>
                  <a:srgbClr val="282828"/>
                </a:solidFill>
                <a:latin typeface="Arial"/>
              </a:defRPr>
            </a:pPr>
            <a:r>
              <a:t>Future Scope:</a:t>
            </a:r>
          </a:p>
          <a:p>
            <a:pPr lvl="1">
              <a:spcAft>
                <a:spcPts val="800"/>
              </a:spcAft>
              <a:defRPr sz="1600">
                <a:solidFill>
                  <a:srgbClr val="282828"/>
                </a:solidFill>
                <a:latin typeface="Arial"/>
              </a:defRPr>
            </a:pPr>
            <a:r>
              <a:t>Implementing End-to-End Encryption (E2EE) using Web Crypto API.</a:t>
            </a:r>
          </a:p>
          <a:p>
            <a:pPr lvl="1">
              <a:spcAft>
                <a:spcPts val="800"/>
              </a:spcAft>
              <a:defRPr sz="1600">
                <a:solidFill>
                  <a:srgbClr val="282828"/>
                </a:solidFill>
                <a:latin typeface="Arial"/>
              </a:defRPr>
            </a:pPr>
            <a:r>
              <a:t>Developing group chat channels and collaborative document sharing.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